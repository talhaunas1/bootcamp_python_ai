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Crimson Pro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rimsonPro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CrimsonProSemiBold-italic.fntdata"/><Relationship Id="rId23" Type="http://schemas.openxmlformats.org/officeDocument/2006/relationships/font" Target="fonts/CrimsonPro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CrimsonPro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1" name="Google Shape;101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7" name="Google Shape;117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4" name="Google Shape;124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7" name="Google Shape;137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30c7e80f6_2_9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430c7e80f6_2_9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5" name="Google Shape;145;g3430c7e80f6_2_9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30c7e80f6_2_11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430c7e80f6_2_11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2" name="Google Shape;152;g3430c7e80f6_2_11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9" name="Google Shape;159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30c7e80f6_4_4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430c7e80f6_4_4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7" name="Google Shape;167;g3430c7e80f6_4_4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39cd885e2_0_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39cd885e2_0_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4" name="Google Shape;174;g3439cd885e2_0_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30c7e80f6_4_6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30c7e80f6_4_6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1" name="Google Shape;181;g3430c7e80f6_4_6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9" name="Google Shape;189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30c7e80f6_4_94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430c7e80f6_4_94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6" name="Google Shape;196;g3430c7e80f6_4_94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Machine Learning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Model Evaluation Metrics</a:t>
            </a:r>
            <a:endParaRPr b="1"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4 - Day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SECTION 1: CLASSIFICATION METRICS</a:t>
            </a:r>
            <a:endParaRPr b="0" i="0" sz="2800" u="none" cap="none" strike="noStrike"/>
          </a:p>
        </p:txBody>
      </p:sp>
      <p:sp>
        <p:nvSpPr>
          <p:cNvPr id="104" name="Google Shape;104;p26"/>
          <p:cNvSpPr/>
          <p:nvPr/>
        </p:nvSpPr>
        <p:spPr>
          <a:xfrm>
            <a:off x="496119" y="1756358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Evaluation Metrics Matter?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Ideas: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Not all metrics work for all tasks.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Choose the metric based on: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Task type (classification or regression)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Dataset balance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Business goal (false positives vs false negatives)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/>
          <p:nvPr/>
        </p:nvSpPr>
        <p:spPr>
          <a:xfrm>
            <a:off x="496125" y="382750"/>
            <a:ext cx="7109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Confusion Matrix – The Core of Classification</a:t>
            </a:r>
            <a:endParaRPr b="0" i="0" sz="2800" u="none" cap="none" strike="noStrike"/>
          </a:p>
        </p:txBody>
      </p:sp>
      <p:sp>
        <p:nvSpPr>
          <p:cNvPr id="111" name="Google Shape;111;p27"/>
          <p:cNvSpPr/>
          <p:nvPr/>
        </p:nvSpPr>
        <p:spPr>
          <a:xfrm>
            <a:off x="992237" y="3207841"/>
            <a:ext cx="3144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 SemiBold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12" name="Google Shape;112;p27"/>
          <p:cNvSpPr/>
          <p:nvPr/>
        </p:nvSpPr>
        <p:spPr>
          <a:xfrm>
            <a:off x="496119" y="3746451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It Matters: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lang="en" sz="1100">
                <a:solidFill>
                  <a:schemeClr val="dk1"/>
                </a:solidFill>
              </a:rPr>
              <a:t>All classification metrics are derived from these 4 values.</a:t>
            </a:r>
            <a:endParaRPr sz="1100"/>
          </a:p>
        </p:txBody>
      </p:sp>
      <p:pic>
        <p:nvPicPr>
          <p:cNvPr id="113" name="Google Shape;1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862" y="978250"/>
            <a:ext cx="4650313" cy="26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Accuracy – Basic but Limited</a:t>
            </a:r>
            <a:endParaRPr b="0" i="0" sz="2300" u="none" cap="none" strike="noStrike"/>
          </a:p>
        </p:txBody>
      </p:sp>
      <p:pic>
        <p:nvPicPr>
          <p:cNvPr id="120" name="Google Shape;1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88" y="1364150"/>
            <a:ext cx="652462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Precision – Focus on Positives You Predicted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27" name="Google Shape;1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88" y="1252950"/>
            <a:ext cx="652462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/>
        </p:nvSpPr>
        <p:spPr>
          <a:xfrm>
            <a:off x="455050" y="300650"/>
            <a:ext cx="55335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Recall – How Many Actual Positives Did We Find?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88" y="1598125"/>
            <a:ext cx="652462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F1 Score – Balance Between Precision &amp; Recall</a:t>
            </a:r>
            <a:endParaRPr b="0" i="0" sz="2800" u="none" cap="none" strike="noStrike"/>
          </a:p>
        </p:txBody>
      </p:sp>
      <p:sp>
        <p:nvSpPr>
          <p:cNvPr id="140" name="Google Shape;140;p31"/>
          <p:cNvSpPr txBox="1"/>
          <p:nvPr/>
        </p:nvSpPr>
        <p:spPr>
          <a:xfrm>
            <a:off x="496125" y="1251350"/>
            <a:ext cx="461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488" y="1782125"/>
            <a:ext cx="6599975" cy="30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/>
          <p:nvPr/>
        </p:nvSpPr>
        <p:spPr>
          <a:xfrm>
            <a:off x="496125" y="6615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Summary – Classification Metrics Table</a:t>
            </a:r>
            <a:endParaRPr b="0" i="0" sz="2800" u="none" cap="none" strike="noStrike"/>
          </a:p>
        </p:txBody>
      </p:sp>
      <p:pic>
        <p:nvPicPr>
          <p:cNvPr id="148" name="Google Shape;1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175" y="1687700"/>
            <a:ext cx="766762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/>
          <p:nvPr/>
        </p:nvSpPr>
        <p:spPr>
          <a:xfrm>
            <a:off x="284874" y="335550"/>
            <a:ext cx="6507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Activity 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120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50" y="1434825"/>
            <a:ext cx="64484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/>
          <p:nvPr/>
        </p:nvSpPr>
        <p:spPr>
          <a:xfrm>
            <a:off x="333626" y="504375"/>
            <a:ext cx="55575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SECTION 2: REGRESSION METRICS</a:t>
            </a:r>
            <a:endParaRPr b="0" i="0" sz="2800" u="none" cap="none" strike="noStrike"/>
          </a:p>
        </p:txBody>
      </p:sp>
      <p:sp>
        <p:nvSpPr>
          <p:cNvPr id="162" name="Google Shape;162;p34"/>
          <p:cNvSpPr txBox="1"/>
          <p:nvPr/>
        </p:nvSpPr>
        <p:spPr>
          <a:xfrm>
            <a:off x="333625" y="1243225"/>
            <a:ext cx="42384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Goal of Regression: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Predict </a:t>
            </a:r>
            <a:r>
              <a:rPr b="1" lang="en" sz="1100">
                <a:solidFill>
                  <a:schemeClr val="dk1"/>
                </a:solidFill>
              </a:rPr>
              <a:t>continuous numeric values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Challenge: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Need to measure how far predictions are from actual values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Approach: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error-based metrics</a:t>
            </a:r>
            <a:r>
              <a:rPr lang="en" sz="1100">
                <a:solidFill>
                  <a:schemeClr val="dk1"/>
                </a:solidFill>
              </a:rPr>
              <a:t> (the smaller, the better)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25" y="1542675"/>
            <a:ext cx="4267174" cy="228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/>
          <p:nvPr/>
        </p:nvSpPr>
        <p:spPr>
          <a:xfrm>
            <a:off x="496125" y="478250"/>
            <a:ext cx="5663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Mean Squared Error (MSE)</a:t>
            </a:r>
            <a:endParaRPr b="0" i="0" sz="2800" u="none" cap="none" strike="noStrike"/>
          </a:p>
        </p:txBody>
      </p:sp>
      <p:pic>
        <p:nvPicPr>
          <p:cNvPr id="170" name="Google Shape;1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788" y="1463800"/>
            <a:ext cx="64484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/>
          <p:nvPr/>
        </p:nvSpPr>
        <p:spPr>
          <a:xfrm>
            <a:off x="343724" y="478250"/>
            <a:ext cx="641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Root Mean Squared Error (RMSE)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77" name="Google Shape;17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788" y="1431275"/>
            <a:ext cx="64484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/>
          <p:nvPr/>
        </p:nvSpPr>
        <p:spPr>
          <a:xfrm>
            <a:off x="496126" y="397425"/>
            <a:ext cx="593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Mean Absolute Error (MAE)</a:t>
            </a:r>
            <a:endParaRPr b="0" i="0" sz="2800" u="none" cap="none" strike="noStrike"/>
          </a:p>
        </p:txBody>
      </p:sp>
      <p:sp>
        <p:nvSpPr>
          <p:cNvPr id="184" name="Google Shape;184;p37"/>
          <p:cNvSpPr/>
          <p:nvPr/>
        </p:nvSpPr>
        <p:spPr>
          <a:xfrm>
            <a:off x="496119" y="1211523"/>
            <a:ext cx="8151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5" name="Google Shape;1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963" y="1370623"/>
            <a:ext cx="637222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Summary – Regression Metrics Table</a:t>
            </a:r>
            <a:endParaRPr b="1" sz="1700">
              <a:solidFill>
                <a:srgbClr val="05192D"/>
              </a:solidFill>
              <a:highlight>
                <a:srgbClr val="FFFFFF"/>
              </a:highlight>
            </a:endParaRPr>
          </a:p>
        </p:txBody>
      </p:sp>
      <p:pic>
        <p:nvPicPr>
          <p:cNvPr id="192" name="Google Shape;19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1582150"/>
            <a:ext cx="721995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/>
        </p:nvSpPr>
        <p:spPr>
          <a:xfrm>
            <a:off x="446900" y="316900"/>
            <a:ext cx="385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Activity</a:t>
            </a:r>
            <a:endParaRPr b="1" sz="1700">
              <a:solidFill>
                <a:srgbClr val="05192D"/>
              </a:solidFill>
              <a:highlight>
                <a:schemeClr val="lt1"/>
              </a:highlight>
            </a:endParaRPr>
          </a:p>
        </p:txBody>
      </p:sp>
      <p:pic>
        <p:nvPicPr>
          <p:cNvPr id="199" name="Google Shape;1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75" y="1076775"/>
            <a:ext cx="6619875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